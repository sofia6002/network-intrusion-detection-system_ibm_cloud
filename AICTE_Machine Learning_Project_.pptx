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2"/>
  </p:notesMasterIdLst>
  <p:sldIdLst>
    <p:sldId id="283" r:id="rId2"/>
    <p:sldId id="257" r:id="rId3"/>
    <p:sldId id="282" r:id="rId4"/>
    <p:sldId id="285" r:id="rId5"/>
    <p:sldId id="278" r:id="rId6"/>
    <p:sldId id="279" r:id="rId7"/>
    <p:sldId id="292" r:id="rId8"/>
    <p:sldId id="262" r:id="rId9"/>
    <p:sldId id="290" r:id="rId10"/>
    <p:sldId id="291" r:id="rId11"/>
    <p:sldId id="286" r:id="rId12"/>
    <p:sldId id="287" r:id="rId13"/>
    <p:sldId id="280" r:id="rId14"/>
    <p:sldId id="288" r:id="rId15"/>
    <p:sldId id="293" r:id="rId16"/>
    <p:sldId id="294" r:id="rId17"/>
    <p:sldId id="295" r:id="rId18"/>
    <p:sldId id="296" r:id="rId19"/>
    <p:sldId id="289" r:id="rId20"/>
    <p:sldId id="276" r:id="rId21"/>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955" autoAdjust="0"/>
    <p:restoredTop sz="94660"/>
  </p:normalViewPr>
  <p:slideViewPr>
    <p:cSldViewPr snapToGrid="0">
      <p:cViewPr varScale="1">
        <p:scale>
          <a:sx n="62" d="100"/>
          <a:sy n="62" d="100"/>
        </p:scale>
        <p:origin x="62" y="40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customschemas.google.com/relationships/presentationmetadata" Target="metadata"/><Relationship Id="rId30"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0"/>
    </inkml:context>
    <inkml:brush xml:id="br0">
      <inkml:brushProperty name="width" value="0.1" units="cm"/>
      <inkml:brushProperty name="height" value="0.1" units="cm"/>
      <inkml:brushProperty name="color" value="#E71224"/>
    </inkml:brush>
  </inkml:definitions>
  <inkml:trace contextRef="#ctx0" brushRef="#br0">8444 7648 16383 0 0,'10'0'0'0'0,"19"0"0"0"0,19 0 0 0 0,17 0 0 0 0,13 0 0 0 0,8 0 0 0 0,9 0 0 0 0,0 0 0 0 0,-7 0 0 0 0,-9 0 0 0 0,-6 0 0 0 0,-7 0 0 0 0,-3 0 0 0 0,-9 0 0 0 0,-7 0 0 0 0,-2 0 0 0 0,-4 0 0 0 0,-3 0 0 0 0,-3 0 0 0 0,-3 0 0 0 0,-2 0 0 0 0,0 0 0 0 0,-1 0 0 0 0,0 0 0 0 0,0 0 0 0 0,1 0 0 0 0,4 0 0 0 0,8 0 0 0 0,11 0 0 0 0,7 0 0 0 0,8 0 0 0 0,13 0 0 0 0,8 0 0 0 0,10 0 0 0 0,17 0 0 0 0,10 0 0 0 0,-1 0 0 0 0,-2 0 0 0 0,-7 0 0 0 0,-2 0 0 0 0,-6 0 0 0 0,-6 0 0 0 0,-5 0 0 0 0,-14 0 0 0 0,-6 0 0 0 0,-5 0 0 0 0,-1 0 0 0 0,3 0 0 0 0,5 0 0 0 0,9 0 0 0 0,9 0 0 0 0,9 0 0 0 0,22 0 0 0 0,14 0 0 0 0,9 0 0 0 0,-1 0 0 0 0,-2 0 0 0 0,-4 0 0 0 0,-7 0 0 0 0,-7 0 0 0 0,-5 0 0 0 0,-3 0 0 0 0,-3 0 0 0 0,-5 0 0 0 0,-8 0 0 0 0,-6 0 0 0 0,-6 0 0 0 0,3 0 0 0 0,-1 0 0 0 0,-1 0 0 0 0,-2 0 0 0 0,-1 0 0 0 0,-7 0 0 0 0,4 0 0 0 0,0 0 0 0 0,2 0 0 0 0,-1 0 0 0 0,1 0 0 0 0,-6 0 0 0 0,-7 0 0 0 0,4 0 0 0 0,-7 0 0 0 0,-12 0 0 0 0,-11 0 0 0 0,-9 0 0 0 0,-7 0 0 0 0,-5 0 0 0 0,-2 0 0 0 0,-1 0 0 0 0,-1 0 0 0 0,1 0 0 0 0,0 0 0 0 0,1 0 0 0 0,11 0 0 0 0,3 0 0 0 0,4 0 0 0 0,10 0 0 0 0,11 0 0 0 0,8 0 0 0 0,7 0 0 0 0,14 0 0 0 0,7 0 0 0 0,0 0 0 0 0,-3 0 0 0 0,-12 0 0 0 0,-12 0 0 0 0,-9 0 0 0 0,-6 0 0 0 0,-8 0 0 0 0,-3 0 0 0 0,-6 0 0 0 0,-4 0 0 0 0,-5 0 0 0 0,-4 0 0 0 0,-1 0 0 0 0,-2 0 0 0 0,0 0 0 0 0,0 0 0 0 0,0 0 0 0 0,0 0 0 0 0,5 0 0 0 0,12 0 0 0 0,4 0 0 0 0,-2 0 0 0 0,-4 0 0 0 0,-5 0 0 0 0,-3 0 0 0 0,-3 0 0 0 0,-2 0 0 0 0,-2 0 0 0 0,0 0 0 0 0,0 0 0 0 0,0 0 0 0 0,0 0 0 0 0,1 0 0 0 0,4 0 0 0 0,3 0 0 0 0,-6 0 0 0 0,-3 0 0 0 0,-1 0 0 0 0,-5 0 0 0 0,-1 0 0 0 0,1 0 0 0 0,1 0 0 0 0,2 0 0 0 0,3 0 0 0 0,-10 0 0 0 0,-12 0 0 0 0,-13 0 0 0 0,-9 0 0 0 0,-8 0 0 0 0,-5 0 0 0 0,-2 0 0 0 0,-6 0 0 0 0,-3 0 0 0 0,2 0 0 0 0,2 0 0 0 0,1 0 0 0 0,2 0 0 0 0,-3 0 0 0 0,-6 0 0 0 0,-11 0 0 0 0,-7 0 0 0 0,-18 0 0 0 0,-16 0 0 0 0,-13 0 0 0 0,-8 0 0 0 0,-10 0 0 0 0,-24 0 0 0 0,-18 0 0 0 0,-5 0 0 0 0,-14 0 0 0 0,-1 0 0 0 0,1 0 0 0 0,12 0 0 0 0,0 0 0 0 0,-1 0 0 0 0,-1 0 0 0 0,-1 0 0 0 0,-6 0 0 0 0,3 0 0 0 0,-8 0 0 0 0,-4 0 0 0 0,-3 0 0 0 0,0 0 0 0 0,3 0 0 0 0,14 0 0 0 0,2 0 0 0 0,11 0 0 0 0,2 0 0 0 0,19 0 0 0 0,4 0 0 0 0,0 0 0 0 0,14 0 0 0 0,13 0 0 0 0,6 0 0 0 0,5 0 0 0 0,-5 0 0 0 0,-4 0 0 0 0,-5 0 0 0 0,4 0 0 0 0,-1 0 0 0 0,0 0 0 0 0,-2 0 0 0 0,3 0 0 0 0,6 0 0 0 0,6 0 0 0 0,4 0 0 0 0,-1 0 0 0 0,0 0 0 0 0,2 0 0 0 0,1 0 0 0 0,2 0 0 0 0,1 0 0 0 0,-4 0 0 0 0,-1 0 0 0 0,11 0 0 0 0,9 0 0 0 0,8 0 0 0 0,5 0 0 0 0,3 0 0 0 0,2 0 0 0 0,6 0 0 0 0,11 0 0 0 0,3 0 0 0 0,3 0 0 0 0,1 0 0 0 0,3 0 0 0 0,6 0 0 0 0,2 0 0 0 0,0 0 0 0 0,4 0 0 0 0,0 0 0 0 0,-1 0 0 0 0,-4 0 0 0 0,-1 0 0 0 0,-3 0 0 0 0,0 0 0 0 0,-2 0 0 0 0,-5 0 0 0 0,-7 0 0 0 0,3 0 0 0 0,4 0 0 0 0,3 0 0 0 0,1 0 0 0 0,6 0 0 0 0,3 0 0 0 0,-1 0 0 0 0,-1 0 0 0 0,-1 0 0 0 0,2 0 0 0 0,2 0 0 0 0,-2 0 0 0 0,4 0 0 0 0,-1 0 0 0 0,4 0 0 0 0,-1 0 0 0 0,-3 0 0 0 0,3 0 0 0 0,-2 0 0 0 0,-7 0 0 0 0,1 0 0 0 0,-1 0 0 0 0,-1 0 0 0 0,0 0 0 0 0,-2 0 0 0 0,0 0 0 0 0,-1 0 0 0 0,1 0 0 0 0,-1 0 0 0 0,0 0 0 0 0,0 0 0 0 0,0 0 0 0 0,5 0 0 0 0,7 0 0 0 0,1 0 0 0 0,-1 0 0 0 0,-3 0 0 0 0,-8 0 0 0 0,6 0 0 0 0,12 0 0 0 0,13 0 0 0 0,11 0 0 0 0,9 0 0 0 0,5 0 0 0 0,4 0 0 0 0,1 0 0 0 0,0 0 0 0 0,0 0 0 0 0,-11 0 0 0 0,-13 0 0 0 0,-14 0 0 0 0,-11 0 0 0 0,-7 0 0 0 0,-5 0 0 0 0,3 0 0 0 0,10 0 0 0 0,14 0 0 0 0,11 0 0 0 0,10 0 0 0 0,7 0 0 0 0,3 0 0 0 0,8 0 0 0 0,7 0 0 0 0,2 0 0 0 0,17 0 0 0 0,10 0 0 0 0,6 0 0 0 0,11 0 0 0 0,9 0 0 0 0,10 0 0 0 0,5 0 0 0 0,4 0 0 0 0,-2 0 0 0 0,-7 0 0 0 0,-6 0 0 0 0,0 0 0 0 0,-8 0 0 0 0,-5 0 0 0 0,-7 0 0 0 0,-13 0 0 0 0,-13 0 0 0 0,-7 0 0 0 0,-6 0 0 0 0,0 0 0 0 0,12 0 0 0 0,12 0 0 0 0,9 0 0 0 0,8 0 0 0 0,8 0 0 0 0,5 0 0 0 0,16 0 0 0 0,8 0 0 0 0,-1 0 0 0 0,-6 0 0 0 0,-2 0 0 0 0,0 0 0 0 0,-4 0 0 0 0,-6 0 0 0 0,1 0 0 0 0,-3 0 0 0 0,-8 0 0 0 0,5 0 0 0 0,7 0 0 0 0,0 0 0 0 0,-7 0 0 0 0,-1 0 0 0 0,-1 0 0 0 0,4 0 0 0 0,9 0 0 0 0,2 0 0 0 0,-7 0 0 0 0,-8 0 0 0 0,-3 0 0 0 0,2 0 0 0 0,0 0 0 0 0,-1 0 0 0 0,-6 0 0 0 0,-3 0 0 0 0,-6 0 0 0 0,-6 0 0 0 0,0 0 0 0 0,-8 0 0 0 0,1 0 0 0 0,-1 0 0 0 0,-2 0 0 0 0,4 0 0 0 0,6 0 0 0 0,-4 0 0 0 0,16 0 0 0 0,4 0 0 0 0,2 0 0 0 0,0 0 0 0 0,1 0 0 0 0,-1 0 0 0 0,10 0 0 0 0,8 0 0 0 0,6 0 0 0 0,-2 0 0 0 0,-5 0 0 0 0,-5 0 0 0 0,-5 0 0 0 0,-4 0 0 0 0,-13 0 0 0 0,-15 0 0 0 0,-9 0 0 0 0,-9 0 0 0 0,-7 0 0 0 0,-6 0 0 0 0,-4 0 0 0 0,3 0 0 0 0,1 0 0 0 0,5 0 0 0 0,10 0 0 0 0,7 0 0 0 0,4 0 0 0 0,-3 0 0 0 0,4 0 0 0 0,1 0 0 0 0,0 0 0 0 0,-6 0 0 0 0,4 0 0 0 0,-5 0 0 0 0,-6 0 0 0 0,-7 0 0 0 0,-5 0 0 0 0,-5 0 0 0 0,-2 0 0 0 0,-1 0 0 0 0,-2 0 0 0 0,-4 0 0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19T08:10:36.311"/>
    </inkml:context>
    <inkml:brush xml:id="br0">
      <inkml:brushProperty name="width" value="0.1" units="cm"/>
      <inkml:brushProperty name="height" value="0.1" units="cm"/>
      <inkml:brushProperty name="color" value="#E71224"/>
    </inkml:brush>
  </inkml:definitions>
  <inkml:trace contextRef="#ctx0" brushRef="#br0">12735 6943 16383 0 0,'91'0'0'0'0,"137"0"0"0"0,85 0 0 0 0,45 0 0 0 0,-7 0 0 0 0,-44 0 0 0 0,-64 0 0 0 0,-62 0 0 0 0,-53 0 0 0 0,-43 0 0 0 0,-25 0 0 0 0,-23 0 0 0 0,-3 0 0 0 0,8 0 0 0 0,12 0 0 0 0,13 0 0 0 0,19 0 0 0 0,16 0 0 0 0,6 0 0 0 0,4 0 0 0 0,-1 0 0 0 0,-4 0 0 0 0,10 0 0 0 0,0 0 0 0 0,0 0 0 0 0,-4 0 0 0 0,-6 0 0 0 0,-1 0 0 0 0,-14 0 0 0 0,-11 0 0 0 0,-6 0 0 0 0,-9 0 0 0 0,-7 0 0 0 0,-8 0 0 0 0,-2 0 0 0 0,-5 0 0 0 0,-4 0 0 0 0,-5 0 0 0 0,3 0 0 0 0,-1 0 0 0 0,-21 0 0 0 0,-34 0 0 0 0,-50 0 0 0 0,-73 0 0 0 0,-59 0 0 0 0,-51 0 0 0 0,-39 0 0 0 0,-35 0 0 0 0,-29 0 0 0 0,-15 0 0 0 0,-1 0 0 0 0,18 0 0 0 0,27 0 0 0 0,34 0 0 0 0,26 0 0 0 0,38 0 0 0 0,41 0 0 0 0,33 0 0 0 0,28 0 0 0 0,13 0 0 0 0,22 0 0 0 0,11 0 0 0 0,13 0 0 0 0,13 0 0 0 0,11 0 0 0 0,7 0 0 0 0,5 0 0 0 0,2 0 0 0 0,1 0 0 0 0,-1 0 0 0 0,1 0 0 0 0,-2 0 0 0 0,1 0 0 0 0,-2 0 0 0 0,11 0 0 0 0,13 0 0 0 0,33 0 0 0 0,37 0 0 0 0,38 0 0 0 0,53 0 0 0 0,35 0 0 0 0,26 0 0 0 0,22 0 0 0 0,10 0 0 0 0,0 0 0 0 0,-13 0 0 0 0,-15 0 0 0 0,-26 0 0 0 0,-24 0 0 0 0,-32 0 0 0 0,-29 0 0 0 0,-28 0 0 0 0,-23 0 0 0 0,-10 0 0 0 0,-10 0 0 0 0,-20 0 0 0 0,-24 0 0 0 0,-31 0 0 0 0,-45 0 0 0 0,-43 0 0 0 0,-62 0 0 0 0,-50 0 0 0 0,-40 0 0 0 0,-29 0 0 0 0,-8 0 0 0 0,-6 0 0 0 0,5 0 0 0 0,16 0 0 0 0,24 0 0 0 0,27 0 0 0 0,36 0 0 0 0,24 0 0 0 0,39 0 0 0 0,34 0 0 0 0,27 0 0 0 0,23 0 0 0 0,17 0 0 0 0,23 0 0 0 0,25 0 0 0 0,33 0 0 0 0,56 0 0 0 0,49 0 0 0 0,27 0 0 0 0,24 0 0 0 0,17 0 0 0 0,4 0 0 0 0,1 0 0 0 0,-5 0 0 0 0,-17 0 0 0 0,-15 0 0 0 0,-7 0 0 0 0,-12 0 0 0 0,-16 0 0 0 0,-18 0 0 0 0,-13 0 0 0 0,-15 0 0 0 0,-19 0 0 0 0,-16 0 0 0 0,-4 0 0 0 0,-4 0 0 0 0,-18 0 0 0 0,-28 0 0 0 0,-35 0 0 0 0,-34 0 0 0 0,-34 0 0 0 0,-48 0 0 0 0,-33 0 0 0 0,-43 0 0 0 0,-58 0 0 0 0,-43 0 0 0 0,-32 0 0 0 0,-12 0 0 0 0,2 0 0 0 0,22 0 0 0 0,44 0 0 0 0,53 0 0 0 0,38 0 0 0 0,45 0 0 0 0,44 0 0 0 0,33 0 0 0 0,27 0 0 0 0,17 0 0 0 0,12 0 0 0 0,6 0 0 0 0,2 0 0 0 0,-1 0 0 0 0,0 0 0 0 0,-7 0 0 0 0,-3 0 0 0 0,-6 0 0 0 0,-6 0 0 0 0,-6 0 0 0 0,7 0 0 0 0,0 0 0 0 0,-2 0 0 0 0,2 0 0 0 0,3 0 0 0 0,4 0 0 0 0,3 0 0 0 0,8 0 0 0 0,3 0 0 0 0,-4 0 0 0 0,-8 0 0 0 0,-2 0 0 0 0,-1 0 0 0 0,-3 0 0 0 0,1 0 0 0 0,6 0 0 0 0,5 0 0 0 0,2 0 0 0 0,1 0 0 0 0,0 0 0 0 0,5 0 0 0 0,0 0 0 0 0,0 0 0 0 0,3 0 0 0 0,10 0 0 0 0,21 0 0 0 0,25 0 0 0 0,31 0 0 0 0,49 0 0 0 0,46 0 0 0 0,40 0 0 0 0,32 0 0 0 0,21 0 0 0 0,3 0 0 0 0,3 0 0 0 0,-3 0 0 0 0,-20 0 0 0 0,-20 0 0 0 0,-17 0 0 0 0,-22 0 0 0 0,-22 0 0 0 0,-18 0 0 0 0,-16 0 0 0 0,-21 0 0 0 0,-11 0 0 0 0,-12 0 0 0 0,-9 0 0 0 0,-12 0 0 0 0,-11 0 0 0 0,-8 0 0 0 0,-6 0 0 0 0,-4 0 0 0 0,9 0 0 0 0,7 0 0 0 0,6 0 0 0 0,10 0 0 0 0,14 0 0 0 0,10 0 0 0 0,20 0 0 0 0,3 0 0 0 0,7 0 0 0 0,5 0 0 0 0,-8 0 0 0 0,-3 0 0 0 0,5 0 0 0 0,-7 0 0 0 0,-11 0 0 0 0,-13 0 0 0 0,-10 0 0 0 0,-12 0 0 0 0,-12 0 0 0 0,-5 0 0 0 0,-4 0 0 0 0,1 0 0 0 0,3 0 0 0 0,4 0 0 0 0,-1 0 0 0 0,2 0 0 0 0,-4 0 0 0 0,-3 0 0 0 0,-5 0 0 0 0,2 0 0 0 0,4 0 0 0 0,-1 0 0 0 0,4 0 0 0 0,2 0 0 0 0,4 0 0 0 0,-2 0 0 0 0,1 0 0 0 0,1 0 0 0 0,-4 0 0 0 0,1 0 0 0 0,-3 0 0 0 0,-5 0 0 0 0,0 0 0 0 0,-1 0 0 0 0,-3 0 0 0 0,-2 0 0 0 0,-3 0 0 0 0,-2 0 0 0 0,-1 0 0 0 0,-5 0 0 0 0,-8 0 0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9D317CDF-7DC0-CA5A-918A-D2622AB8A47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C9616B3B-ECE6-F081-F102-9239F316A63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21B32430-2A94-BD8A-6648-48A98697D96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406002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Sofia6002/Network-intrusion-detection-system_IBM_CLOUD"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7" Type="http://schemas.openxmlformats.org/officeDocument/2006/relationships/image" Target="../media/image6.png"/><Relationship Id="rId2" Type="http://schemas.openxmlformats.org/officeDocument/2006/relationships/customXml" Target="../ink/ink1.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7" Type="http://schemas.openxmlformats.org/officeDocument/2006/relationships/image" Target="../media/image9.png"/><Relationship Id="rId2" Type="http://schemas.openxmlformats.org/officeDocument/2006/relationships/customXml" Target="../ink/ink3.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4.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7" Type="http://schemas.openxmlformats.org/officeDocument/2006/relationships/image" Target="../media/image10.png"/><Relationship Id="rId2" Type="http://schemas.openxmlformats.org/officeDocument/2006/relationships/customXml" Target="../ink/ink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6.xml"/><Relationship Id="rId4" Type="http://schemas.openxmlformats.org/officeDocument/2006/relationships/image" Target="../media/image7.png"/></Relationships>
</file>

<file path=ppt/slides/_rels/slide17.xml.rels><?xml version="1.0" encoding="UTF-8" standalone="yes"?>
<Relationships xmlns="http://schemas.openxmlformats.org/package/2006/relationships"><Relationship Id="rId7" Type="http://schemas.openxmlformats.org/officeDocument/2006/relationships/image" Target="../media/image11.png"/><Relationship Id="rId2" Type="http://schemas.openxmlformats.org/officeDocument/2006/relationships/customXml" Target="../ink/ink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8.xml"/><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7" Type="http://schemas.openxmlformats.org/officeDocument/2006/relationships/image" Target="../media/image12.png"/><Relationship Id="rId2" Type="http://schemas.openxmlformats.org/officeDocument/2006/relationships/customXml" Target="../ink/ink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customXml" Target="../ink/ink10.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Machine Learning with IBM Cloud”</a:t>
            </a:r>
            <a:endParaRPr lang="en-IN"/>
          </a:p>
        </p:txBody>
      </p:sp>
    </p:spTree>
    <p:extLst>
      <p:ext uri="{BB962C8B-B14F-4D97-AF65-F5344CB8AC3E}">
        <p14:creationId xmlns:p14="http://schemas.microsoft.com/office/powerpoint/2010/main" val="95756464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393265207"/>
              </p:ext>
            </p:extLst>
          </p:nvPr>
        </p:nvGraphicFramePr>
        <p:xfrm>
          <a:off x="1299256" y="2600314"/>
          <a:ext cx="10380680" cy="2191142"/>
        </p:xfrm>
        <a:graphic>
          <a:graphicData uri="http://schemas.openxmlformats.org/drawingml/2006/table">
            <a:tbl>
              <a:tblPr>
                <a:noFill/>
                <a:tableStyleId>{0AAD8F4D-43EB-41E5-8A38-28AB6DFB1B60}</a:tableStyleId>
              </a:tblPr>
              <a:tblGrid>
                <a:gridCol w="3083416">
                  <a:extLst>
                    <a:ext uri="{9D8B030D-6E8A-4147-A177-3AD203B41FA5}">
                      <a16:colId xmlns:a16="http://schemas.microsoft.com/office/drawing/2014/main" val="20000"/>
                    </a:ext>
                  </a:extLst>
                </a:gridCol>
                <a:gridCol w="3648632">
                  <a:extLst>
                    <a:ext uri="{9D8B030D-6E8A-4147-A177-3AD203B41FA5}">
                      <a16:colId xmlns:a16="http://schemas.microsoft.com/office/drawing/2014/main" val="20003"/>
                    </a:ext>
                  </a:extLst>
                </a:gridCol>
                <a:gridCol w="3648632">
                  <a:extLst>
                    <a:ext uri="{9D8B030D-6E8A-4147-A177-3AD203B41FA5}">
                      <a16:colId xmlns:a16="http://schemas.microsoft.com/office/drawing/2014/main" val="20004"/>
                    </a:ext>
                  </a:extLst>
                </a:gridCol>
              </a:tblGrid>
              <a:tr h="984022">
                <a:tc>
                  <a:txBody>
                    <a:bodyPr/>
                    <a:lstStyle/>
                    <a:p>
                      <a:pPr marL="0" marR="0" lvl="0" indent="0" algn="ctr" rtl="0">
                        <a:spcBef>
                          <a:spcPts val="0"/>
                        </a:spcBef>
                        <a:spcAft>
                          <a:spcPts val="0"/>
                        </a:spcAft>
                        <a:buNone/>
                      </a:pPr>
                      <a:r>
                        <a:rPr lang="en-US" sz="2800" u="none" strike="noStrike" cap="none"/>
                        <a:t>Student Name</a:t>
                      </a:r>
                      <a:endParaRPr sz="2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2800" b="0" i="0" u="none" strike="noStrike" cap="none" dirty="0">
                          <a:solidFill>
                            <a:srgbClr val="000000"/>
                          </a:solidFill>
                          <a:latin typeface="Arial"/>
                          <a:ea typeface="Calibri"/>
                          <a:cs typeface="Arial"/>
                          <a:sym typeface="Calibri"/>
                        </a:rPr>
                        <a:t>Email ID </a:t>
                      </a:r>
                      <a:endParaRPr sz="2800" b="0" i="0" u="none" strike="noStrike" cap="none" dirty="0">
                        <a:solidFill>
                          <a:srgbClr val="000000"/>
                        </a:solidFill>
                        <a:latin typeface="Arial"/>
                        <a:cs typeface="Arial"/>
                        <a:sym typeface="Arial"/>
                      </a:endParaRPr>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2800" b="0" i="0" u="none" strike="noStrike" cap="none">
                          <a:solidFill>
                            <a:srgbClr val="000000"/>
                          </a:solidFill>
                          <a:latin typeface="Arial"/>
                          <a:ea typeface="Calibri"/>
                          <a:cs typeface="Arial"/>
                          <a:sym typeface="Calibri"/>
                        </a:rPr>
                        <a:t>Mobile number</a:t>
                      </a:r>
                      <a:endParaRPr sz="2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2800" b="0" i="0" u="none" strike="noStrike" cap="none">
                          <a:solidFill>
                            <a:srgbClr val="000000"/>
                          </a:solidFill>
                          <a:latin typeface="Arial"/>
                          <a:ea typeface="Calibri"/>
                          <a:cs typeface="Arial"/>
                          <a:sym typeface="Calibri"/>
                        </a:rPr>
                        <a:t>[WhatsApp] </a:t>
                      </a:r>
                      <a:endParaRPr sz="2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207120">
                <a:tc>
                  <a:txBody>
                    <a:bodyPr/>
                    <a:lstStyle/>
                    <a:p>
                      <a:pPr marL="0" marR="0" lvl="1" indent="0" algn="ctr" rtl="0">
                        <a:spcBef>
                          <a:spcPts val="0"/>
                        </a:spcBef>
                        <a:spcAft>
                          <a:spcPts val="0"/>
                        </a:spcAft>
                        <a:buNone/>
                      </a:pPr>
                      <a:r>
                        <a:rPr lang="en-US" sz="2000" dirty="0"/>
                        <a:t>SOFIA TM</a:t>
                      </a:r>
                      <a:endParaRPr sz="2000"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sz="2000" dirty="0"/>
                        <a:t>kuramaragaisa@gmail.com</a:t>
                      </a:r>
                      <a:endParaRPr sz="2000" dirty="0"/>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ctr" rtl="0">
                        <a:spcBef>
                          <a:spcPts val="0"/>
                        </a:spcBef>
                        <a:spcAft>
                          <a:spcPts val="0"/>
                        </a:spcAft>
                        <a:buNone/>
                      </a:pPr>
                      <a:r>
                        <a:rPr lang="en-US" sz="2000" dirty="0"/>
                        <a:t>7598857175</a:t>
                      </a:r>
                      <a:endParaRPr sz="2000" dirty="0"/>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70870"/>
            <a:ext cx="10280254" cy="461665"/>
          </a:xfrm>
          <a:prstGeom prst="rect">
            <a:avLst/>
          </a:prstGeom>
          <a:noFill/>
        </p:spPr>
        <p:txBody>
          <a:bodyPr wrap="square" rtlCol="0">
            <a:spAutoFit/>
          </a:bodyPr>
          <a:lstStyle/>
          <a:p>
            <a:r>
              <a:rPr lang="en-US" sz="2400" b="1" dirty="0"/>
              <a:t>Domain of  Project – Security</a:t>
            </a:r>
            <a:endParaRPr lang="en-IN" sz="2400" b="1" dirty="0">
              <a:highlight>
                <a:srgbClr val="FFFF00"/>
              </a:highlight>
            </a:endParaRPr>
          </a:p>
        </p:txBody>
      </p:sp>
      <p:sp>
        <p:nvSpPr>
          <p:cNvPr id="7" name="TextBox 6">
            <a:extLst>
              <a:ext uri="{FF2B5EF4-FFF2-40B4-BE49-F238E27FC236}">
                <a16:creationId xmlns:a16="http://schemas.microsoft.com/office/drawing/2014/main" id="{3D723CA3-EC2D-165A-F109-3759C4E9C8A4}"/>
              </a:ext>
            </a:extLst>
          </p:cNvPr>
          <p:cNvSpPr txBox="1"/>
          <p:nvPr/>
        </p:nvSpPr>
        <p:spPr>
          <a:xfrm>
            <a:off x="1201359" y="555835"/>
            <a:ext cx="9581177" cy="461665"/>
          </a:xfrm>
          <a:prstGeom prst="rect">
            <a:avLst/>
          </a:prstGeom>
          <a:noFill/>
        </p:spPr>
        <p:txBody>
          <a:bodyPr wrap="square" rtlCol="0">
            <a:spAutoFit/>
          </a:bodyPr>
          <a:lstStyle/>
          <a:p>
            <a:r>
              <a:rPr lang="en-US" sz="2400" b="1" dirty="0">
                <a:latin typeface="+mn-lt"/>
              </a:rPr>
              <a:t>Project Tile –  </a:t>
            </a:r>
            <a:r>
              <a:rPr lang="en-US" sz="2400" dirty="0">
                <a:latin typeface="+mn-lt"/>
              </a:rPr>
              <a:t>Network Intrusion Detection </a:t>
            </a:r>
            <a:r>
              <a:rPr lang="en-US" sz="2400" b="1" dirty="0">
                <a:latin typeface="+mn-lt"/>
              </a:rPr>
              <a:t> </a:t>
            </a:r>
            <a:endParaRPr lang="en-IN" sz="2400" b="1" dirty="0">
              <a:highlight>
                <a:srgbClr val="FFFF00"/>
              </a:highlight>
              <a:latin typeface="+mn-l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508837" y="864646"/>
            <a:ext cx="11357834" cy="5601533"/>
          </a:xfrm>
          <a:prstGeom prst="rect">
            <a:avLst/>
          </a:prstGeom>
          <a:noFill/>
        </p:spPr>
        <p:txBody>
          <a:bodyPr wrap="square" lIns="91440" tIns="45720" rIns="91440" bIns="45720" rtlCol="0" anchor="t">
            <a:spAutoFit/>
          </a:bodyPr>
          <a:lstStyle/>
          <a:p>
            <a:pPr fontAlgn="base"/>
            <a:r>
              <a:rPr lang="en-US" sz="2000" b="1" dirty="0"/>
              <a:t>Problem Statement: Network Intrusion Detection using Machine Learning</a:t>
            </a:r>
          </a:p>
          <a:p>
            <a:pPr>
              <a:lnSpc>
                <a:spcPct val="150000"/>
              </a:lnSpc>
            </a:pPr>
            <a:r>
              <a:rPr lang="en-US" sz="1800" dirty="0"/>
              <a:t>Network Intrusion Detection Systems (NIDS) are a critical line of defense for securing communication networks against cyber-attacks. As network traffic grows in volume and complexity, manually monitoring for malicious activity becomes impractical, and delayed detection can allow attacks such as denial-of-service, scanning, and unauthorized access attempts to cause significant damage before they are noticed. Your task is to design, build, and deploy a machine learning-based system that can analyze live network traffic and classify each connection as Normal or Anomalous in real time, using IBM Cloud Lite services for training and deployment. The goal is to create a working early-warning tool that captures real traffic, reconstructs the relevant connection features on the fly, and provides operators with an immediate classification and a recommended mitigation action — enabling faster, more reliable detection of malicious network activity than manual monitoring alone.</a:t>
            </a:r>
            <a:r>
              <a:rPr lang="en-US" sz="1200" dirty="0"/>
              <a:t> </a:t>
            </a:r>
            <a:r>
              <a:rPr lang="en-US" sz="1800" dirty="0"/>
              <a:t>While network attacks vary widely in type — including denial-of-service, scanning, and unauthorized access attempts — this project implements binary anomaly detection (Normal vs. Anomaly) based on the dataset explicitly provided for the task.</a:t>
            </a:r>
          </a:p>
          <a:p>
            <a:endParaRPr lang="en-IN" dirty="0"/>
          </a:p>
        </p:txBody>
      </p:sp>
      <p:sp>
        <p:nvSpPr>
          <p:cNvPr id="3" name="TextBox 2">
            <a:extLst>
              <a:ext uri="{FF2B5EF4-FFF2-40B4-BE49-F238E27FC236}">
                <a16:creationId xmlns:a16="http://schemas.microsoft.com/office/drawing/2014/main" id="{3847FA31-EA47-D27A-9D69-AF50A3080AEC}"/>
              </a:ext>
            </a:extLst>
          </p:cNvPr>
          <p:cNvSpPr txBox="1"/>
          <p:nvPr/>
        </p:nvSpPr>
        <p:spPr>
          <a:xfrm>
            <a:off x="351954" y="401529"/>
            <a:ext cx="7214616" cy="523220"/>
          </a:xfrm>
          <a:prstGeom prst="rect">
            <a:avLst/>
          </a:prstGeom>
          <a:noFill/>
        </p:spPr>
        <p:txBody>
          <a:bodyPr wrap="square" rtlCol="0">
            <a:spAutoFit/>
          </a:bodyPr>
          <a:lstStyle/>
          <a:p>
            <a:r>
              <a:rPr lang="en-US" sz="2800" b="1" dirty="0"/>
              <a:t>Problem statement No.40 </a:t>
            </a:r>
            <a:endParaRPr lang="en-IN" sz="4400" b="1" dirty="0"/>
          </a:p>
        </p:txBody>
      </p:sp>
    </p:spTree>
    <p:extLst>
      <p:ext uri="{BB962C8B-B14F-4D97-AF65-F5344CB8AC3E}">
        <p14:creationId xmlns:p14="http://schemas.microsoft.com/office/powerpoint/2010/main" val="295258420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23880" y="674734"/>
            <a:ext cx="11131336" cy="6806415"/>
          </a:xfrm>
          <a:prstGeom prst="rect">
            <a:avLst/>
          </a:prstGeom>
          <a:noFill/>
        </p:spPr>
        <p:txBody>
          <a:bodyPr wrap="square" lIns="91440" tIns="45720" rIns="91440" bIns="45720" rtlCol="0" anchor="t">
            <a:spAutoFit/>
          </a:bodyPr>
          <a:lstStyle/>
          <a:p>
            <a:r>
              <a:rPr lang="en-US" sz="2000" b="1" dirty="0"/>
              <a:t>(IBM Watson Studio – </a:t>
            </a:r>
            <a:r>
              <a:rPr lang="en-US" sz="2000" b="1" dirty="0" err="1"/>
              <a:t>AutoAI</a:t>
            </a:r>
            <a:r>
              <a:rPr lang="en-US" sz="2000" b="1" dirty="0"/>
              <a:t>):</a:t>
            </a:r>
            <a:endParaRPr lang="en-US" sz="2000" dirty="0"/>
          </a:p>
          <a:p>
            <a:pPr>
              <a:lnSpc>
                <a:spcPct val="150000"/>
              </a:lnSpc>
            </a:pPr>
            <a:r>
              <a:rPr lang="en-US" sz="2000" dirty="0"/>
              <a:t>We propose an AI-powered Network Intrusion Detection System using </a:t>
            </a:r>
            <a:r>
              <a:rPr lang="en-US" sz="2000" b="1" dirty="0"/>
              <a:t>IBM Watson Studio</a:t>
            </a:r>
            <a:r>
              <a:rPr lang="en-US" sz="2000" dirty="0"/>
              <a:t> and </a:t>
            </a:r>
            <a:r>
              <a:rPr lang="en-US" sz="2000" b="1" dirty="0" err="1"/>
              <a:t>AutoAI</a:t>
            </a:r>
            <a:r>
              <a:rPr lang="en-US" sz="2000" dirty="0"/>
              <a:t>.</a:t>
            </a:r>
          </a:p>
          <a:p>
            <a:pPr>
              <a:lnSpc>
                <a:spcPct val="150000"/>
              </a:lnSpc>
            </a:pPr>
            <a:r>
              <a:rPr lang="en-US" sz="2000" dirty="0"/>
              <a:t>Live network traffic will be captured locally and converted into connection-level feature records (duration, protocol, service, byte counts, connection rates, and error rates) using a custom flow aggregator, mirroring the NSL-KDD feature schema.</a:t>
            </a:r>
          </a:p>
          <a:p>
            <a:pPr>
              <a:lnSpc>
                <a:spcPct val="150000"/>
              </a:lnSpc>
            </a:pPr>
            <a:r>
              <a:rPr lang="en-US" sz="2000" b="1" dirty="0" err="1"/>
              <a:t>AutoAI</a:t>
            </a:r>
            <a:r>
              <a:rPr lang="en-US" sz="2000" dirty="0"/>
              <a:t> will automatically perform data preprocessing, algorithm selection, feature engineering, and hyperparameter optimization on the training dataset.</a:t>
            </a:r>
          </a:p>
          <a:p>
            <a:pPr>
              <a:lnSpc>
                <a:spcPct val="150000"/>
              </a:lnSpc>
            </a:pPr>
            <a:r>
              <a:rPr lang="en-US" sz="2000" dirty="0"/>
              <a:t>Multiple classification pipelines will be generated and evaluated to identify the best-performing model for distinguishing normal traffic from anomalous traffic.</a:t>
            </a:r>
          </a:p>
          <a:p>
            <a:pPr>
              <a:lnSpc>
                <a:spcPct val="150000"/>
              </a:lnSpc>
            </a:pPr>
            <a:r>
              <a:rPr lang="en-US" sz="2000" dirty="0"/>
              <a:t>The selected model will be deployed as a live REST scoring endpoint via </a:t>
            </a:r>
            <a:r>
              <a:rPr lang="en-US" sz="2000" b="1" dirty="0"/>
              <a:t>Watson Machine Learning</a:t>
            </a:r>
            <a:r>
              <a:rPr lang="en-US" sz="2000" dirty="0"/>
              <a:t>, enabling real-time classification of connections as they are captured — with each anomaly paired with a recommended mitigation action for the operator.</a:t>
            </a:r>
          </a:p>
          <a:p>
            <a:pPr>
              <a:lnSpc>
                <a:spcPct val="150000"/>
              </a:lnSpc>
            </a:pPr>
            <a:br>
              <a:rPr lang="en-US" sz="2000" dirty="0"/>
            </a:br>
            <a:r>
              <a:rPr lang="en-US" sz="2000" dirty="0"/>
              <a:t> </a:t>
            </a:r>
          </a:p>
        </p:txBody>
      </p:sp>
      <p:sp>
        <p:nvSpPr>
          <p:cNvPr id="3" name="TextBox 2">
            <a:extLst>
              <a:ext uri="{FF2B5EF4-FFF2-40B4-BE49-F238E27FC236}">
                <a16:creationId xmlns:a16="http://schemas.microsoft.com/office/drawing/2014/main" id="{527F30CC-07EF-8FCC-DA00-C9212F5DAECE}"/>
              </a:ext>
            </a:extLst>
          </p:cNvPr>
          <p:cNvSpPr txBox="1"/>
          <p:nvPr/>
        </p:nvSpPr>
        <p:spPr>
          <a:xfrm>
            <a:off x="158538" y="203047"/>
            <a:ext cx="7214616" cy="461665"/>
          </a:xfrm>
          <a:prstGeom prst="rect">
            <a:avLst/>
          </a:prstGeom>
          <a:noFill/>
        </p:spPr>
        <p:txBody>
          <a:bodyPr wrap="square" rtlCol="0">
            <a:spAutoFit/>
          </a:bodyPr>
          <a:lstStyle/>
          <a:p>
            <a:r>
              <a:rPr lang="en-US" sz="2400" b="1"/>
              <a:t>Proposed Solution -</a:t>
            </a:r>
            <a:endParaRPr lang="en-IN" sz="2400" b="1"/>
          </a:p>
        </p:txBody>
      </p:sp>
    </p:spTree>
    <p:extLst>
      <p:ext uri="{BB962C8B-B14F-4D97-AF65-F5344CB8AC3E}">
        <p14:creationId xmlns:p14="http://schemas.microsoft.com/office/powerpoint/2010/main" val="22902949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777240" y="484632"/>
            <a:ext cx="7123176" cy="461665"/>
          </a:xfrm>
          <a:prstGeom prst="rect">
            <a:avLst/>
          </a:prstGeom>
          <a:noFill/>
        </p:spPr>
        <p:txBody>
          <a:bodyPr wrap="square" lIns="91440" tIns="45720" rIns="91440" bIns="45720" rtlCol="0" anchor="t">
            <a:spAutoFit/>
          </a:bodyPr>
          <a:lstStyle/>
          <a:p>
            <a:r>
              <a:rPr lang="en-US" sz="2400" b="1"/>
              <a:t>Technology Used</a:t>
            </a:r>
            <a:endParaRPr lang="en-IN" sz="2400" b="1"/>
          </a:p>
        </p:txBody>
      </p:sp>
      <p:sp>
        <p:nvSpPr>
          <p:cNvPr id="3" name="TextBox 2">
            <a:extLst>
              <a:ext uri="{FF2B5EF4-FFF2-40B4-BE49-F238E27FC236}">
                <a16:creationId xmlns:a16="http://schemas.microsoft.com/office/drawing/2014/main" id="{4A7608B5-9906-EFCF-959A-E89FC2E3EE19}"/>
              </a:ext>
            </a:extLst>
          </p:cNvPr>
          <p:cNvSpPr txBox="1"/>
          <p:nvPr/>
        </p:nvSpPr>
        <p:spPr>
          <a:xfrm>
            <a:off x="582168" y="1475232"/>
            <a:ext cx="10515600" cy="3847207"/>
          </a:xfrm>
          <a:prstGeom prst="rect">
            <a:avLst/>
          </a:prstGeom>
          <a:noFill/>
        </p:spPr>
        <p:txBody>
          <a:bodyPr wrap="square" lIns="91440" tIns="45720" rIns="91440" bIns="45720" rtlCol="0" anchor="t">
            <a:spAutoFit/>
          </a:bodyPr>
          <a:lstStyle/>
          <a:p>
            <a:endParaRPr lang="en-US" sz="1800" dirty="0"/>
          </a:p>
          <a:p>
            <a:pPr marL="285750" indent="-285750">
              <a:buFont typeface="Arial" panose="020B0604020202020204" pitchFamily="34" charset="0"/>
              <a:buChar char="•"/>
            </a:pPr>
            <a:r>
              <a:rPr lang="en-US" sz="1800" b="1" dirty="0"/>
              <a:t>IBM Cloud </a:t>
            </a:r>
            <a:r>
              <a:rPr lang="en-US" sz="1800" dirty="0"/>
              <a:t>– It provides the infrastructure to build, deploy, and scale the Nutrition Agent efficiently. IBM Cloud enables a </a:t>
            </a:r>
            <a:r>
              <a:rPr lang="en-US" sz="1800" b="1" dirty="0"/>
              <a:t>reliable, secure, and scalable environment</a:t>
            </a:r>
            <a:r>
              <a:rPr lang="en-US" sz="1800" dirty="0"/>
              <a:t> for deploying the </a:t>
            </a:r>
            <a:r>
              <a:rPr lang="en-US" sz="1800" dirty="0" err="1"/>
              <a:t>Nutrion</a:t>
            </a:r>
            <a:r>
              <a:rPr lang="en-US" sz="1800" dirty="0"/>
              <a:t> agent</a:t>
            </a:r>
          </a:p>
          <a:p>
            <a:pPr marL="285750" indent="-285750">
              <a:buFont typeface="Arial" panose="020B0604020202020204" pitchFamily="34" charset="0"/>
              <a:buChar char="•"/>
            </a:pPr>
            <a:endParaRPr lang="en-US" sz="1800" dirty="0"/>
          </a:p>
          <a:p>
            <a:pPr marL="285750" indent="-285750">
              <a:buFont typeface="Arial" panose="020B0604020202020204" pitchFamily="34" charset="0"/>
              <a:buChar char="•"/>
            </a:pPr>
            <a:r>
              <a:rPr lang="en-US" sz="1800" b="1" dirty="0"/>
              <a:t>ML Algorithm/Model Used:</a:t>
            </a:r>
            <a:r>
              <a:rPr lang="en-US" sz="1800" dirty="0"/>
              <a:t> Snap Random Forest Classifier (Batched Tree Ensemble), selected automatically by </a:t>
            </a:r>
            <a:r>
              <a:rPr lang="en-US" sz="1800" dirty="0" err="1"/>
              <a:t>AutoAI</a:t>
            </a:r>
            <a:r>
              <a:rPr lang="en-US" sz="1800" dirty="0"/>
              <a:t> from the generated pipeline leaderboard</a:t>
            </a:r>
          </a:p>
          <a:p>
            <a:pPr marL="285750" indent="-285750">
              <a:buFont typeface="Arial" panose="020B0604020202020204" pitchFamily="34" charset="0"/>
              <a:buChar char="•"/>
            </a:pPr>
            <a:r>
              <a:rPr lang="en-US" sz="1800" b="1" dirty="0"/>
              <a:t>Accuracy Obtained:</a:t>
            </a:r>
            <a:r>
              <a:rPr lang="en-US" sz="1800" dirty="0"/>
              <a:t> 99.6% (cross-validated, from </a:t>
            </a:r>
            <a:r>
              <a:rPr lang="en-US" sz="1800" dirty="0" err="1"/>
              <a:t>AutoAI's</a:t>
            </a:r>
            <a:r>
              <a:rPr lang="en-US" sz="1800" dirty="0"/>
              <a:t> pipeline leaderboard). </a:t>
            </a:r>
          </a:p>
          <a:p>
            <a:pPr marL="285750" indent="-285750">
              <a:buFont typeface="Arial" panose="020B0604020202020204" pitchFamily="34" charset="0"/>
              <a:buChar char="•"/>
            </a:pPr>
            <a:r>
              <a:rPr lang="en-US" sz="1800" b="1" dirty="0"/>
              <a:t>Enhancements and Hyperparameter Tuning:</a:t>
            </a:r>
            <a:r>
              <a:rPr lang="en-US" sz="1800" dirty="0"/>
              <a:t> HPO-1, Feature Engineering (FE), HPO-2, and Batching, as applied by </a:t>
            </a:r>
            <a:r>
              <a:rPr lang="en-US" sz="1800" dirty="0" err="1"/>
              <a:t>AutoAI</a:t>
            </a:r>
            <a:r>
              <a:rPr lang="en-US" sz="1800" dirty="0"/>
              <a:t> to the top-ranked pipeline</a:t>
            </a:r>
          </a:p>
          <a:p>
            <a:pPr marL="285750" indent="-285750">
              <a:buFont typeface="Arial" panose="020B0604020202020204" pitchFamily="34" charset="0"/>
              <a:buChar char="•"/>
            </a:pPr>
            <a:r>
              <a:rPr lang="en-US" sz="1800" dirty="0"/>
              <a:t>Python : for network </a:t>
            </a:r>
            <a:r>
              <a:rPr lang="en-US" sz="1800" dirty="0" err="1"/>
              <a:t>loging</a:t>
            </a:r>
            <a:endParaRPr lang="en-US" sz="1800" dirty="0"/>
          </a:p>
          <a:p>
            <a:pPr marL="285750" indent="-285750">
              <a:buFont typeface="Arial" panose="020B0604020202020204" pitchFamily="34" charset="0"/>
              <a:buChar char="•"/>
            </a:pPr>
            <a:r>
              <a:rPr lang="en-US" sz="1800" dirty="0" err="1"/>
              <a:t>streamlit</a:t>
            </a:r>
            <a:r>
              <a:rPr lang="en-US" sz="1800" dirty="0"/>
              <a:t>: for dashboard</a:t>
            </a:r>
          </a:p>
          <a:p>
            <a:pPr marL="285750" indent="-285750">
              <a:buFont typeface="Arial" panose="020B0604020202020204" pitchFamily="34" charset="0"/>
              <a:buChar char="•"/>
            </a:pPr>
            <a:endParaRPr lang="en-US" sz="1800" dirty="0"/>
          </a:p>
          <a:p>
            <a:endParaRPr lang="en-US" dirty="0"/>
          </a:p>
          <a:p>
            <a:endParaRPr lang="en-IN" dirty="0"/>
          </a:p>
        </p:txBody>
      </p:sp>
    </p:spTree>
    <p:extLst>
      <p:ext uri="{BB962C8B-B14F-4D97-AF65-F5344CB8AC3E}">
        <p14:creationId xmlns:p14="http://schemas.microsoft.com/office/powerpoint/2010/main" val="37644058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a:buClr>
                <a:srgbClr val="051D3A"/>
              </a:buClr>
              <a:buSzPts val="3500"/>
            </a:pPr>
            <a:r>
              <a:rPr lang="en-US" sz="2400" b="1">
                <a:sym typeface="Times New Roman"/>
              </a:rPr>
              <a:t>Training Screenshots-</a:t>
            </a:r>
            <a:endParaRPr sz="2400" b="1">
              <a:sym typeface="Times New Roman"/>
            </a:endParaRPr>
          </a:p>
        </p:txBody>
      </p:sp>
      <p:pic>
        <p:nvPicPr>
          <p:cNvPr id="6" name="Picture 5">
            <a:extLst>
              <a:ext uri="{FF2B5EF4-FFF2-40B4-BE49-F238E27FC236}">
                <a16:creationId xmlns:a16="http://schemas.microsoft.com/office/drawing/2014/main" id="{D7802E1C-9180-6E3E-F407-E121CD8C41C6}"/>
              </a:ext>
            </a:extLst>
          </p:cNvPr>
          <p:cNvPicPr>
            <a:picLocks noChangeAspect="1"/>
          </p:cNvPicPr>
          <p:nvPr/>
        </p:nvPicPr>
        <p:blipFill>
          <a:blip r:embed="rId3"/>
          <a:stretch>
            <a:fillRect/>
          </a:stretch>
        </p:blipFill>
        <p:spPr>
          <a:xfrm>
            <a:off x="884903" y="965146"/>
            <a:ext cx="10433499" cy="5276525"/>
          </a:xfrm>
          <a:prstGeom prst="rect">
            <a:avLst/>
          </a:prstGeom>
        </p:spPr>
      </p:pic>
    </p:spTree>
    <p:extLst>
      <p:ext uri="{BB962C8B-B14F-4D97-AF65-F5344CB8AC3E}">
        <p14:creationId xmlns:p14="http://schemas.microsoft.com/office/powerpoint/2010/main" val="27725019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D074B16-9C31-553D-B75A-1EE546E93195}"/>
              </a:ext>
            </a:extLst>
          </p:cNvPr>
          <p:cNvPicPr>
            <a:picLocks noChangeAspect="1"/>
          </p:cNvPicPr>
          <p:nvPr/>
        </p:nvPicPr>
        <p:blipFill>
          <a:blip r:embed="rId2"/>
          <a:stretch>
            <a:fillRect/>
          </a:stretch>
        </p:blipFill>
        <p:spPr>
          <a:xfrm>
            <a:off x="0" y="355600"/>
            <a:ext cx="12192000" cy="6146800"/>
          </a:xfrm>
          <a:prstGeom prst="rect">
            <a:avLst/>
          </a:prstGeom>
        </p:spPr>
      </p:pic>
    </p:spTree>
    <p:extLst>
      <p:ext uri="{BB962C8B-B14F-4D97-AF65-F5344CB8AC3E}">
        <p14:creationId xmlns:p14="http://schemas.microsoft.com/office/powerpoint/2010/main" val="4131469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Best Model Screenshot:</a:t>
            </a:r>
          </a:p>
        </p:txBody>
      </p:sp>
      <p:pic>
        <p:nvPicPr>
          <p:cNvPr id="6" name="Picture 5">
            <a:extLst>
              <a:ext uri="{FF2B5EF4-FFF2-40B4-BE49-F238E27FC236}">
                <a16:creationId xmlns:a16="http://schemas.microsoft.com/office/drawing/2014/main" id="{C64C4C49-7F60-DBFF-D189-36E1451AA4FA}"/>
              </a:ext>
            </a:extLst>
          </p:cNvPr>
          <p:cNvPicPr>
            <a:picLocks noChangeAspect="1"/>
          </p:cNvPicPr>
          <p:nvPr/>
        </p:nvPicPr>
        <p:blipFill>
          <a:blip r:embed="rId3"/>
          <a:stretch>
            <a:fillRect/>
          </a:stretch>
        </p:blipFill>
        <p:spPr>
          <a:xfrm>
            <a:off x="410920" y="771747"/>
            <a:ext cx="11781080" cy="47001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3E69E7BF-BEF2-458E-692A-A750B748D2BC}"/>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56959763-B5B5-22E5-733E-B3F05D391F6B}"/>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r>
              <a:rPr lang="en-US" sz="2400" b="1">
                <a:solidFill>
                  <a:schemeClr val="dk1"/>
                </a:solidFill>
                <a:latin typeface="Calibri"/>
                <a:ea typeface="Calibri"/>
                <a:cs typeface="Calibri"/>
              </a:rPr>
              <a:t>Testing Screenshot:</a:t>
            </a:r>
          </a:p>
        </p:txBody>
      </p:sp>
      <p:pic>
        <p:nvPicPr>
          <p:cNvPr id="4" name="Picture 3">
            <a:extLst>
              <a:ext uri="{FF2B5EF4-FFF2-40B4-BE49-F238E27FC236}">
                <a16:creationId xmlns:a16="http://schemas.microsoft.com/office/drawing/2014/main" id="{672BB3DD-C4F4-AFDA-49F9-04BF195596E8}"/>
              </a:ext>
            </a:extLst>
          </p:cNvPr>
          <p:cNvPicPr>
            <a:picLocks noChangeAspect="1"/>
          </p:cNvPicPr>
          <p:nvPr/>
        </p:nvPicPr>
        <p:blipFill>
          <a:blip r:embed="rId3"/>
          <a:stretch>
            <a:fillRect/>
          </a:stretch>
        </p:blipFill>
        <p:spPr>
          <a:xfrm>
            <a:off x="537590" y="793777"/>
            <a:ext cx="11316929" cy="5740984"/>
          </a:xfrm>
          <a:prstGeom prst="rect">
            <a:avLst/>
          </a:prstGeom>
        </p:spPr>
      </p:pic>
    </p:spTree>
    <p:extLst>
      <p:ext uri="{BB962C8B-B14F-4D97-AF65-F5344CB8AC3E}">
        <p14:creationId xmlns:p14="http://schemas.microsoft.com/office/powerpoint/2010/main" val="38666566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2DC2F13-C09F-1D50-6289-15F22A1D77FA}"/>
              </a:ext>
            </a:extLst>
          </p:cNvPr>
          <p:cNvSpPr txBox="1"/>
          <p:nvPr/>
        </p:nvSpPr>
        <p:spPr>
          <a:xfrm>
            <a:off x="414759" y="207380"/>
            <a:ext cx="2816507"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Calibri"/>
              </a:rPr>
              <a:t>Testing Screenshot:</a:t>
            </a:r>
            <a:endParaRPr lang="en-US"/>
          </a:p>
          <a:p>
            <a:pPr algn="ctr"/>
            <a:endParaRPr lang="en-US"/>
          </a:p>
        </p:txBody>
      </p:sp>
      <p:pic>
        <p:nvPicPr>
          <p:cNvPr id="3" name="Picture 2">
            <a:extLst>
              <a:ext uri="{FF2B5EF4-FFF2-40B4-BE49-F238E27FC236}">
                <a16:creationId xmlns:a16="http://schemas.microsoft.com/office/drawing/2014/main" id="{A025928D-7751-CCB0-54EB-1710DBD9FA93}"/>
              </a:ext>
            </a:extLst>
          </p:cNvPr>
          <p:cNvPicPr>
            <a:picLocks noChangeAspect="1"/>
          </p:cNvPicPr>
          <p:nvPr/>
        </p:nvPicPr>
        <p:blipFill>
          <a:blip r:embed="rId2"/>
          <a:stretch>
            <a:fillRect/>
          </a:stretch>
        </p:blipFill>
        <p:spPr>
          <a:xfrm>
            <a:off x="414759" y="879986"/>
            <a:ext cx="11541267" cy="5770634"/>
          </a:xfrm>
          <a:prstGeom prst="rect">
            <a:avLst/>
          </a:prstGeom>
        </p:spPr>
      </p:pic>
    </p:spTree>
    <p:extLst>
      <p:ext uri="{BB962C8B-B14F-4D97-AF65-F5344CB8AC3E}">
        <p14:creationId xmlns:p14="http://schemas.microsoft.com/office/powerpoint/2010/main" val="30212958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777240" y="484632"/>
            <a:ext cx="7123176" cy="461665"/>
          </a:xfrm>
          <a:prstGeom prst="rect">
            <a:avLst/>
          </a:prstGeom>
          <a:noFill/>
        </p:spPr>
        <p:txBody>
          <a:bodyPr wrap="square" rtlCol="0">
            <a:spAutoFit/>
          </a:bodyPr>
          <a:lstStyle/>
          <a:p>
            <a:r>
              <a:rPr lang="en-US" sz="2400" b="1"/>
              <a:t>Novelty and Uniqueness</a:t>
            </a:r>
            <a:endParaRPr lang="en-IN" sz="2400" b="1"/>
          </a:p>
        </p:txBody>
      </p:sp>
      <p:sp>
        <p:nvSpPr>
          <p:cNvPr id="3" name="TextBox 2">
            <a:extLst>
              <a:ext uri="{FF2B5EF4-FFF2-40B4-BE49-F238E27FC236}">
                <a16:creationId xmlns:a16="http://schemas.microsoft.com/office/drawing/2014/main" id="{ED65F54F-855A-0DB6-09A6-3212C5F7405B}"/>
              </a:ext>
            </a:extLst>
          </p:cNvPr>
          <p:cNvSpPr txBox="1"/>
          <p:nvPr/>
        </p:nvSpPr>
        <p:spPr>
          <a:xfrm>
            <a:off x="777240" y="1207008"/>
            <a:ext cx="10769628" cy="4093428"/>
          </a:xfrm>
          <a:prstGeom prst="rect">
            <a:avLst/>
          </a:prstGeom>
          <a:noFill/>
        </p:spPr>
        <p:txBody>
          <a:bodyPr wrap="square" lIns="91440" tIns="45720" rIns="91440" bIns="45720" rtlCol="0" anchor="t">
            <a:spAutoFit/>
          </a:bodyPr>
          <a:lstStyle/>
          <a:p>
            <a:pPr marL="285750" indent="-285750">
              <a:buChar char="•"/>
            </a:pPr>
            <a:r>
              <a:rPr lang="en-US" sz="2000" dirty="0"/>
              <a:t>The solution automates network intrusion detection by classifying live traffic in real time, removing the need for manual, continuous monitoring by a human operator.</a:t>
            </a:r>
          </a:p>
          <a:p>
            <a:pPr marL="285750" indent="-285750">
              <a:buChar char="•"/>
            </a:pPr>
            <a:r>
              <a:rPr lang="en-US" sz="2000" dirty="0"/>
              <a:t> It uses IBM Watson Studio </a:t>
            </a:r>
            <a:r>
              <a:rPr lang="en-US" sz="2000" dirty="0" err="1"/>
              <a:t>AutoAI</a:t>
            </a:r>
            <a:r>
              <a:rPr lang="en-US" sz="2000" dirty="0"/>
              <a:t> to automatically discover the best-performing classification model without manually coding or tuning individual algorithms.</a:t>
            </a:r>
          </a:p>
          <a:p>
            <a:pPr marL="285750" indent="-285750">
              <a:buChar char="•"/>
            </a:pPr>
            <a:r>
              <a:rPr lang="en-US" sz="2000" dirty="0"/>
              <a:t> A custom flow aggregator reconstructs connection-level features directly from raw live packets, enabling detection on real captured traffic rather than only static, pre-recorded test records.</a:t>
            </a:r>
          </a:p>
          <a:p>
            <a:pPr marL="285750" indent="-285750">
              <a:buChar char="•"/>
            </a:pPr>
            <a:r>
              <a:rPr lang="en-US" sz="2000" dirty="0"/>
              <a:t> Each detected anomaly is paired with a rule-based heuristic layer that estimates the likely attack pattern (e.g. scanning-like or flood-like behavior), giving operators additional context beyond a simple normal/anomaly label. </a:t>
            </a:r>
          </a:p>
          <a:p>
            <a:pPr marL="285750" indent="-285750">
              <a:buChar char="•"/>
            </a:pPr>
            <a:r>
              <a:rPr lang="en-US" sz="2000" dirty="0"/>
              <a:t>The system provides a live operator dashboard with real-time alerts and clear, human-reviewed mitigation recommendations — ensuring consistent, immediate response guidance rather than delayed manual log review.</a:t>
            </a:r>
            <a:endParaRPr lang="en-IN" sz="2000" dirty="0"/>
          </a:p>
        </p:txBody>
      </p:sp>
    </p:spTree>
    <p:extLst>
      <p:ext uri="{BB962C8B-B14F-4D97-AF65-F5344CB8AC3E}">
        <p14:creationId xmlns:p14="http://schemas.microsoft.com/office/powerpoint/2010/main" val="9179641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Git Hub Link</a:t>
            </a:r>
            <a:endParaRPr sz="2400" b="1">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endParaRPr sz="1850" b="0" i="0" u="none" strike="noStrike" cap="none" dirty="0">
              <a:solidFill>
                <a:srgbClr val="000000"/>
              </a:solidFill>
              <a:latin typeface="Times New Roman"/>
              <a:ea typeface="Times New Roman"/>
              <a:cs typeface="Times New Roman"/>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3" name="TextBox 2">
            <a:extLst>
              <a:ext uri="{FF2B5EF4-FFF2-40B4-BE49-F238E27FC236}">
                <a16:creationId xmlns:a16="http://schemas.microsoft.com/office/drawing/2014/main" id="{AD150902-04F4-DA84-E203-A1DBE5C1A1F2}"/>
              </a:ext>
            </a:extLst>
          </p:cNvPr>
          <p:cNvSpPr txBox="1"/>
          <p:nvPr/>
        </p:nvSpPr>
        <p:spPr>
          <a:xfrm>
            <a:off x="1218725" y="1631539"/>
            <a:ext cx="9214579" cy="830997"/>
          </a:xfrm>
          <a:prstGeom prst="rect">
            <a:avLst/>
          </a:prstGeom>
          <a:noFill/>
        </p:spPr>
        <p:txBody>
          <a:bodyPr wrap="square">
            <a:spAutoFit/>
          </a:bodyPr>
          <a:lstStyle/>
          <a:p>
            <a:r>
              <a:rPr lang="en-US" sz="2400" dirty="0">
                <a:hlinkClick r:id="rId3"/>
              </a:rPr>
              <a:t>https://github.com/Sofia6002/Network-intrusion-detection-system_IBM_CLOUD</a:t>
            </a:r>
            <a:endParaRPr lang="en-US" sz="2400" dirty="0"/>
          </a:p>
        </p:txBody>
      </p:sp>
    </p:spTree>
    <p:extLst>
      <p:ext uri="{BB962C8B-B14F-4D97-AF65-F5344CB8AC3E}">
        <p14:creationId xmlns:p14="http://schemas.microsoft.com/office/powerpoint/2010/main" val="26058519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1218724" y="1221715"/>
            <a:ext cx="9214580" cy="4277001"/>
          </a:xfrm>
          <a:prstGeom prst="rect">
            <a:avLst/>
          </a:prstGeom>
          <a:noFill/>
          <a:ln>
            <a:noFill/>
          </a:ln>
        </p:spPr>
        <p:txBody>
          <a:bodyPr spcFirstLastPara="1" wrap="square" lIns="0" tIns="0" rIns="0" bIns="0" anchor="t" anchorCtr="0">
            <a:noAutofit/>
          </a:bodyPr>
          <a:lstStyle/>
          <a:p>
            <a:pPr marL="285750" indent="-285750">
              <a:lnSpc>
                <a:spcPct val="150000"/>
              </a:lnSpc>
              <a:buFont typeface="Arial"/>
              <a:buChar char="•"/>
            </a:pPr>
            <a:r>
              <a:rPr lang="en-US" sz="1850">
                <a:solidFill>
                  <a:srgbClr val="2B3541"/>
                </a:solidFill>
              </a:rPr>
              <a:t>The system can be integrated with government portals to automate the end-to-end NSAP application verification process. </a:t>
            </a:r>
            <a:endParaRPr lang="en-US"/>
          </a:p>
          <a:p>
            <a:pPr marL="285750" indent="-285750">
              <a:lnSpc>
                <a:spcPct val="150000"/>
              </a:lnSpc>
              <a:buFont typeface="Arial"/>
              <a:buChar char="•"/>
            </a:pPr>
            <a:r>
              <a:rPr lang="en-US" sz="1850">
                <a:solidFill>
                  <a:srgbClr val="2B3541"/>
                </a:solidFill>
              </a:rPr>
              <a:t>Additional welfare schemes can be included, enabling a unified AI-based beneficiary recommendation platform. </a:t>
            </a:r>
            <a:endParaRPr lang="en-US"/>
          </a:p>
          <a:p>
            <a:pPr marL="285750" indent="-285750">
              <a:lnSpc>
                <a:spcPct val="150000"/>
              </a:lnSpc>
              <a:buFont typeface="Arial"/>
              <a:buChar char="•"/>
            </a:pPr>
            <a:r>
              <a:rPr lang="en-US" sz="1850">
                <a:solidFill>
                  <a:srgbClr val="2B3541"/>
                </a:solidFill>
              </a:rPr>
              <a:t>Real-time data integration with Aadhaar and other government databases can improve eligibility validation and fraud detection. </a:t>
            </a:r>
            <a:endParaRPr lang="en-US"/>
          </a:p>
          <a:p>
            <a:pPr marL="285750" indent="-285750">
              <a:lnSpc>
                <a:spcPct val="150000"/>
              </a:lnSpc>
              <a:buFont typeface="Arial"/>
              <a:buChar char="•"/>
            </a:pPr>
            <a:r>
              <a:rPr lang="en-US" sz="1850">
                <a:solidFill>
                  <a:srgbClr val="2B3541"/>
                </a:solidFill>
              </a:rPr>
              <a:t>Advanced AI models in IBM watsonx.ai can be used to continuously improve prediction accuracy as new data becomes available. </a:t>
            </a:r>
            <a:endParaRPr lang="en-US"/>
          </a:p>
          <a:p>
            <a:pPr marL="285750" indent="-285750">
              <a:lnSpc>
                <a:spcPct val="150000"/>
              </a:lnSpc>
              <a:buFont typeface="Arial"/>
              <a:buChar char="•"/>
            </a:pPr>
            <a:r>
              <a:rPr lang="en-US" sz="1850">
                <a:solidFill>
                  <a:srgbClr val="2B3541"/>
                </a:solidFill>
              </a:rPr>
              <a:t>The solution can be scaled nationwide to support faster, transparent, and data-driven welfare distribution across multiple social security programs</a:t>
            </a:r>
            <a:endParaRPr lang="en-US"/>
          </a:p>
          <a:p>
            <a:pPr marL="0" marR="0" lvl="0" indent="0" algn="l">
              <a:lnSpc>
                <a:spcPct val="150000"/>
              </a:lnSpc>
              <a:spcBef>
                <a:spcPts val="0"/>
              </a:spcBef>
              <a:spcAft>
                <a:spcPts val="0"/>
              </a:spcAft>
              <a:buSzPts val="1850"/>
              <a:buFont typeface="Times New Roman"/>
              <a:buNone/>
            </a:pPr>
            <a:endParaRPr lang="en-US" sz="1850" b="1">
              <a:solidFill>
                <a:srgbClr val="2B3541"/>
              </a:solidFill>
              <a:latin typeface="Times New Roman"/>
              <a:cs typeface="Times New Roman"/>
            </a:endParaRP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1367067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sp>
        <p:nvSpPr>
          <p:cNvPr id="3" name="TextBox 2">
            <a:extLst>
              <a:ext uri="{FF2B5EF4-FFF2-40B4-BE49-F238E27FC236}">
                <a16:creationId xmlns:a16="http://schemas.microsoft.com/office/drawing/2014/main" id="{4837D5EE-379B-FDC5-0854-8AC81D31FADF}"/>
              </a:ext>
            </a:extLst>
          </p:cNvPr>
          <p:cNvSpPr txBox="1"/>
          <p:nvPr/>
        </p:nvSpPr>
        <p:spPr>
          <a:xfrm>
            <a:off x="327949" y="842535"/>
            <a:ext cx="638996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en-US" sz="2400" dirty="0"/>
              <a:t>Getting Started with Artificial Intelligence</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1C488599-1CDB-6479-4ED5-FDEEC38049D9}"/>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66AD5D31-EDA5-2C50-7CE9-7D1E60A89F54}"/>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8" name="Picture 7">
            <a:extLst>
              <a:ext uri="{FF2B5EF4-FFF2-40B4-BE49-F238E27FC236}">
                <a16:creationId xmlns:a16="http://schemas.microsoft.com/office/drawing/2014/main" id="{EC24E8A6-CB77-9570-8805-00B60AD3777E}"/>
              </a:ext>
            </a:extLst>
          </p:cNvPr>
          <p:cNvPicPr>
            <a:picLocks noChangeAspect="1"/>
          </p:cNvPicPr>
          <p:nvPr/>
        </p:nvPicPr>
        <p:blipFill>
          <a:blip r:embed="rId7"/>
          <a:srcRect l="2378" t="3731" r="2107" b="4857"/>
          <a:stretch>
            <a:fillRect/>
          </a:stretch>
        </p:blipFill>
        <p:spPr>
          <a:xfrm>
            <a:off x="2645664" y="1367169"/>
            <a:ext cx="6632448" cy="4888992"/>
          </a:xfrm>
          <a:prstGeom prst="rect">
            <a:avLst/>
          </a:prstGeom>
        </p:spPr>
      </p:pic>
    </p:spTree>
    <p:extLst>
      <p:ext uri="{BB962C8B-B14F-4D97-AF65-F5344CB8AC3E}">
        <p14:creationId xmlns:p14="http://schemas.microsoft.com/office/powerpoint/2010/main" val="12290476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B40DCF-62B1-4717-357B-417AA9F424A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7A03320-5FE9-1224-EE70-92B93381A3F1}"/>
              </a:ext>
            </a:extLst>
          </p:cNvPr>
          <p:cNvSpPr txBox="1"/>
          <p:nvPr/>
        </p:nvSpPr>
        <p:spPr>
          <a:xfrm>
            <a:off x="327949" y="842535"/>
            <a:ext cx="638996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en-US" sz="2000" dirty="0"/>
              <a:t>Getting Started with Cybersecurity (Earn a credential!)</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48EDF375-D38B-D287-194E-FF5D8A3DEAF3}"/>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1221080F-82D7-A0D6-6C95-533EBFE96977}"/>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7" name="Picture 6">
            <a:extLst>
              <a:ext uri="{FF2B5EF4-FFF2-40B4-BE49-F238E27FC236}">
                <a16:creationId xmlns:a16="http://schemas.microsoft.com/office/drawing/2014/main" id="{BC78FBBA-979F-8A28-979C-84F5B75C13E3}"/>
              </a:ext>
            </a:extLst>
          </p:cNvPr>
          <p:cNvPicPr>
            <a:picLocks noChangeAspect="1"/>
          </p:cNvPicPr>
          <p:nvPr/>
        </p:nvPicPr>
        <p:blipFill>
          <a:blip r:embed="rId7"/>
          <a:stretch>
            <a:fillRect/>
          </a:stretch>
        </p:blipFill>
        <p:spPr>
          <a:xfrm>
            <a:off x="2102277" y="1242645"/>
            <a:ext cx="7300307" cy="5469716"/>
          </a:xfrm>
          <a:prstGeom prst="rect">
            <a:avLst/>
          </a:prstGeom>
        </p:spPr>
      </p:pic>
      <p:sp>
        <p:nvSpPr>
          <p:cNvPr id="10" name="TextBox 9">
            <a:extLst>
              <a:ext uri="{FF2B5EF4-FFF2-40B4-BE49-F238E27FC236}">
                <a16:creationId xmlns:a16="http://schemas.microsoft.com/office/drawing/2014/main" id="{291C9F29-B0A1-9D52-0E57-F6DB4D08AC9F}"/>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spTree>
    <p:extLst>
      <p:ext uri="{BB962C8B-B14F-4D97-AF65-F5344CB8AC3E}">
        <p14:creationId xmlns:p14="http://schemas.microsoft.com/office/powerpoint/2010/main" val="30016207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F4C7C-5E08-5D4F-3635-DEEC8DC341A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FE67289-342E-3F98-7F6B-B6EE3FE0EE52}"/>
              </a:ext>
            </a:extLst>
          </p:cNvPr>
          <p:cNvSpPr txBox="1"/>
          <p:nvPr/>
        </p:nvSpPr>
        <p:spPr>
          <a:xfrm>
            <a:off x="327949" y="842535"/>
            <a:ext cx="638996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en-US" sz="2000" dirty="0"/>
              <a:t>Level Up Cybersecurity with Generative AI</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73EC44C2-B03B-6380-E3C4-EF0E51B39982}"/>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FB33D227-A959-72DD-68BF-6C329DED31F9}"/>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7" name="Picture 6">
            <a:extLst>
              <a:ext uri="{FF2B5EF4-FFF2-40B4-BE49-F238E27FC236}">
                <a16:creationId xmlns:a16="http://schemas.microsoft.com/office/drawing/2014/main" id="{633FA782-8A91-941A-7EB7-A908A0EDDF5F}"/>
              </a:ext>
            </a:extLst>
          </p:cNvPr>
          <p:cNvPicPr>
            <a:picLocks noChangeAspect="1"/>
          </p:cNvPicPr>
          <p:nvPr/>
        </p:nvPicPr>
        <p:blipFill>
          <a:blip r:embed="rId7"/>
          <a:stretch>
            <a:fillRect/>
          </a:stretch>
        </p:blipFill>
        <p:spPr>
          <a:xfrm>
            <a:off x="2298357" y="1778424"/>
            <a:ext cx="7037508" cy="4375241"/>
          </a:xfrm>
          <a:prstGeom prst="rect">
            <a:avLst/>
          </a:prstGeom>
        </p:spPr>
      </p:pic>
      <p:sp>
        <p:nvSpPr>
          <p:cNvPr id="10" name="TextBox 9">
            <a:extLst>
              <a:ext uri="{FF2B5EF4-FFF2-40B4-BE49-F238E27FC236}">
                <a16:creationId xmlns:a16="http://schemas.microsoft.com/office/drawing/2014/main" id="{4347B439-2CFC-349B-64D4-4F43A1DB686F}"/>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spTree>
    <p:extLst>
      <p:ext uri="{BB962C8B-B14F-4D97-AF65-F5344CB8AC3E}">
        <p14:creationId xmlns:p14="http://schemas.microsoft.com/office/powerpoint/2010/main" val="41785719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91163-27D5-C71A-B4D8-D58492027B9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53D2E64-2A21-ACCC-D507-E0E927BD840B}"/>
              </a:ext>
            </a:extLst>
          </p:cNvPr>
          <p:cNvSpPr txBox="1"/>
          <p:nvPr/>
        </p:nvSpPr>
        <p:spPr>
          <a:xfrm>
            <a:off x="327949" y="842535"/>
            <a:ext cx="638996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en-US" sz="2000" dirty="0"/>
              <a:t>Exploring Quantum Computing</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4BCD4824-3ED3-999F-D135-444BE381FE5E}"/>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A9FB4E0F-C5C2-7212-C784-46613FEA1BD0}"/>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7" name="Picture 6">
            <a:extLst>
              <a:ext uri="{FF2B5EF4-FFF2-40B4-BE49-F238E27FC236}">
                <a16:creationId xmlns:a16="http://schemas.microsoft.com/office/drawing/2014/main" id="{E5449937-3103-B7B9-9FA7-6198E097DB70}"/>
              </a:ext>
            </a:extLst>
          </p:cNvPr>
          <p:cNvPicPr>
            <a:picLocks noChangeAspect="1"/>
          </p:cNvPicPr>
          <p:nvPr/>
        </p:nvPicPr>
        <p:blipFill>
          <a:blip r:embed="rId7"/>
          <a:stretch>
            <a:fillRect/>
          </a:stretch>
        </p:blipFill>
        <p:spPr>
          <a:xfrm>
            <a:off x="1241210" y="1398997"/>
            <a:ext cx="8792476" cy="5238353"/>
          </a:xfrm>
          <a:prstGeom prst="rect">
            <a:avLst/>
          </a:prstGeom>
        </p:spPr>
      </p:pic>
    </p:spTree>
    <p:extLst>
      <p:ext uri="{BB962C8B-B14F-4D97-AF65-F5344CB8AC3E}">
        <p14:creationId xmlns:p14="http://schemas.microsoft.com/office/powerpoint/2010/main" val="5353559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6924DC-AAF7-C132-1D95-7276ED5414E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E649735-2FE8-6DAA-5145-E29207F41FC1}"/>
              </a:ext>
            </a:extLst>
          </p:cNvPr>
          <p:cNvSpPr txBox="1"/>
          <p:nvPr/>
        </p:nvSpPr>
        <p:spPr>
          <a:xfrm>
            <a:off x="327949" y="842535"/>
            <a:ext cx="6389965"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fontAlgn="base"/>
            <a:r>
              <a:rPr lang="en-US" sz="2400" dirty="0"/>
              <a:t>Journey to Cloud: Envisioning Your Solution</a:t>
            </a:r>
          </a:p>
        </p:txBody>
      </p:sp>
      <mc:AlternateContent xmlns:mc="http://schemas.openxmlformats.org/markup-compatibility/2006" xmlns:p14="http://schemas.microsoft.com/office/powerpoint/2010/main">
        <mc:Choice Requires="p14">
          <p:contentPart p14:bwMode="auto" r:id="rId2">
            <p14:nvContentPartPr>
              <p14:cNvPr id="2" name="Ink 1">
                <a:extLst>
                  <a:ext uri="{FF2B5EF4-FFF2-40B4-BE49-F238E27FC236}">
                    <a16:creationId xmlns:a16="http://schemas.microsoft.com/office/drawing/2014/main" id="{639402C1-7EA4-34E4-BFE0-D473EB81AAFF}"/>
                  </a:ext>
                </a:extLst>
              </p14:cNvPr>
              <p14:cNvContentPartPr/>
              <p14:nvPr/>
            </p14:nvContentPartPr>
            <p14:xfrm>
              <a:off x="3048334" y="3639298"/>
              <a:ext cx="3513095" cy="16098"/>
            </p14:xfrm>
          </p:contentPart>
        </mc:Choice>
        <mc:Fallback xmlns="">
          <p:pic>
            <p:nvPicPr>
              <p:cNvPr id="2" name="Ink 1">
                <a:extLst>
                  <a:ext uri="{FF2B5EF4-FFF2-40B4-BE49-F238E27FC236}">
                    <a16:creationId xmlns:a16="http://schemas.microsoft.com/office/drawing/2014/main" id="{1C488599-1CDB-6479-4ED5-FDEEC38049D9}"/>
                  </a:ext>
                </a:extLst>
              </p:cNvPr>
              <p:cNvPicPr/>
              <p:nvPr/>
            </p:nvPicPr>
            <p:blipFill>
              <a:blip r:embed="rId4"/>
              <a:stretch>
                <a:fillRect/>
              </a:stretch>
            </p:blipFill>
            <p:spPr>
              <a:xfrm>
                <a:off x="3030337" y="2834398"/>
                <a:ext cx="3548730" cy="160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1FF85113-747F-387A-A0FE-B06CF99391A4}"/>
                  </a:ext>
                </a:extLst>
              </p14:cNvPr>
              <p14:cNvContentPartPr/>
              <p14:nvPr/>
            </p14:nvContentPartPr>
            <p14:xfrm>
              <a:off x="3338890" y="3210002"/>
              <a:ext cx="3042822" cy="16098"/>
            </p14:xfrm>
          </p:contentPart>
        </mc:Choice>
        <mc:Fallback xmlns="">
          <p:pic>
            <p:nvPicPr>
              <p:cNvPr id="5" name="Ink 4">
                <a:extLst>
                  <a:ext uri="{FF2B5EF4-FFF2-40B4-BE49-F238E27FC236}">
                    <a16:creationId xmlns:a16="http://schemas.microsoft.com/office/drawing/2014/main" id="{66AD5D31-EDA5-2C50-7CE9-7D1E60A89F54}"/>
                  </a:ext>
                </a:extLst>
              </p:cNvPr>
              <p:cNvPicPr/>
              <p:nvPr/>
            </p:nvPicPr>
            <p:blipFill>
              <a:blip r:embed="rId6"/>
              <a:stretch>
                <a:fillRect/>
              </a:stretch>
            </p:blipFill>
            <p:spPr>
              <a:xfrm>
                <a:off x="3320892" y="2405102"/>
                <a:ext cx="3078459" cy="1609800"/>
              </a:xfrm>
              <a:prstGeom prst="rect">
                <a:avLst/>
              </a:prstGeom>
            </p:spPr>
          </p:pic>
        </mc:Fallback>
      </mc:AlternateContent>
      <p:pic>
        <p:nvPicPr>
          <p:cNvPr id="7" name="Picture 6">
            <a:extLst>
              <a:ext uri="{FF2B5EF4-FFF2-40B4-BE49-F238E27FC236}">
                <a16:creationId xmlns:a16="http://schemas.microsoft.com/office/drawing/2014/main" id="{7123A7E5-B633-8BB4-3977-C4C5828F60C3}"/>
              </a:ext>
            </a:extLst>
          </p:cNvPr>
          <p:cNvPicPr>
            <a:picLocks noChangeAspect="1"/>
          </p:cNvPicPr>
          <p:nvPr/>
        </p:nvPicPr>
        <p:blipFill>
          <a:blip r:embed="rId7"/>
          <a:stretch>
            <a:fillRect/>
          </a:stretch>
        </p:blipFill>
        <p:spPr>
          <a:xfrm>
            <a:off x="2434281" y="1519643"/>
            <a:ext cx="7068064" cy="5327620"/>
          </a:xfrm>
          <a:prstGeom prst="rect">
            <a:avLst/>
          </a:prstGeom>
        </p:spPr>
      </p:pic>
      <p:sp>
        <p:nvSpPr>
          <p:cNvPr id="10" name="TextBox 9">
            <a:extLst>
              <a:ext uri="{FF2B5EF4-FFF2-40B4-BE49-F238E27FC236}">
                <a16:creationId xmlns:a16="http://schemas.microsoft.com/office/drawing/2014/main" id="{AA4FAB3C-74ED-A3CC-6505-A335FC19C489}"/>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dirty="0"/>
              <a:t>Certificates Earned:</a:t>
            </a:r>
          </a:p>
          <a:p>
            <a:pPr algn="ctr"/>
            <a:endParaRPr lang="en-US" dirty="0"/>
          </a:p>
        </p:txBody>
      </p:sp>
    </p:spTree>
    <p:extLst>
      <p:ext uri="{BB962C8B-B14F-4D97-AF65-F5344CB8AC3E}">
        <p14:creationId xmlns:p14="http://schemas.microsoft.com/office/powerpoint/2010/main" val="3126747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sp>
        <p:nvSpPr>
          <p:cNvPr id="6" name="TextBox 5">
            <a:extLst>
              <a:ext uri="{FF2B5EF4-FFF2-40B4-BE49-F238E27FC236}">
                <a16:creationId xmlns:a16="http://schemas.microsoft.com/office/drawing/2014/main" id="{C0D36B1A-26C2-CD55-1032-4CB5E4EDF305}"/>
              </a:ext>
            </a:extLst>
          </p:cNvPr>
          <p:cNvSpPr txBox="1"/>
          <p:nvPr/>
        </p:nvSpPr>
        <p:spPr>
          <a:xfrm>
            <a:off x="496843" y="800470"/>
            <a:ext cx="54376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b="1"/>
              <a:t>Add your IBM BOB Certificate</a:t>
            </a:r>
          </a:p>
        </p:txBody>
      </p:sp>
      <p:pic>
        <p:nvPicPr>
          <p:cNvPr id="3" name="Picture 2">
            <a:extLst>
              <a:ext uri="{FF2B5EF4-FFF2-40B4-BE49-F238E27FC236}">
                <a16:creationId xmlns:a16="http://schemas.microsoft.com/office/drawing/2014/main" id="{ADC3F6E6-936F-DF35-53FD-13884B1FAF67}"/>
              </a:ext>
            </a:extLst>
          </p:cNvPr>
          <p:cNvPicPr>
            <a:picLocks noChangeAspect="1"/>
          </p:cNvPicPr>
          <p:nvPr/>
        </p:nvPicPr>
        <p:blipFill>
          <a:blip r:embed="rId2"/>
          <a:stretch>
            <a:fillRect/>
          </a:stretch>
        </p:blipFill>
        <p:spPr>
          <a:xfrm>
            <a:off x="2829698" y="1477578"/>
            <a:ext cx="7781726" cy="4839353"/>
          </a:xfrm>
          <a:prstGeom prst="rect">
            <a:avLst/>
          </a:prstGeom>
        </p:spPr>
      </p:pic>
    </p:spTree>
    <p:extLst>
      <p:ext uri="{BB962C8B-B14F-4D97-AF65-F5344CB8AC3E}">
        <p14:creationId xmlns:p14="http://schemas.microsoft.com/office/powerpoint/2010/main" val="25066107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175</TotalTime>
  <Words>842</Words>
  <Application>Microsoft Office PowerPoint</Application>
  <PresentationFormat>Widescreen</PresentationFormat>
  <Paragraphs>67</Paragraphs>
  <Slides>20</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Admin</cp:lastModifiedBy>
  <cp:revision>6</cp:revision>
  <dcterms:created xsi:type="dcterms:W3CDTF">2025-07-08T05:06:56Z</dcterms:created>
  <dcterms:modified xsi:type="dcterms:W3CDTF">2026-07-14T07:22:47Z</dcterms:modified>
</cp:coreProperties>
</file>